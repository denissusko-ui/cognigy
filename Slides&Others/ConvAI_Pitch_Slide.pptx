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1c61af6b-e01e-f1b4-615a-758f1a44d68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phases, one system. The three phases speak three different languages to three different readers. SCOPE is the business view: which conversations pay off, in volume, feasibility and euros, for client management — intent discovery and feasibility, a resolution-based ROI model and the 7-pillar scoping framework, ending in the Scope and Feasibility Report. DESIGN is the customer view: what the customer hears, turn by turn, signed off by client stakeholders on paper — verbatim dialogue scripts, a visual flowchart and a variable and entity dictionary, packaged as the Conversation Design Package. Each phase's output is the next phase's input: the brief goes into Scope, the Scope and Feasibility Report into Design, and the Conversation Design Package into Build. BUILD is the system view: the spec adds what design does not cover (data contracts and sample payloads, error handling per backend call, session state, volume and SLA, generative-AI strategy, the compliance gate), and from that spec a multi-agent pipeline on Cognigy.AI builds, tests and documents the flow, with a quality gate at every handoff, delivering the deployed flow, a test report and handover docs. The point: not improvisation, a structured system with AI-assisted delivery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117600"/>
            <a:ext cx="10566400" cy="53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spc="-144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spc="-144" kern="0" dirty="0">
                <a:solidFill>
                  <a:schemeClr val="tx1"/>
                </a:solidFill>
              </a:rPr>
              <a:t>Title</a:t>
            </a: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3 PHASES · 1 SYSTEM · AI-ASSISTED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176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spc="-144" kern="0" dirty="0">
                <a:solidFill>
                  <a:schemeClr val="tx1"/>
                </a:solidFill>
              </a:rPr>
              <a:t>Conversational AI — From Brief to Deployed</a:t>
            </a:r>
            <a:endParaRPr lang="en-US" sz="3600" dirty="0"/>
          </a:p>
        </p:txBody>
      </p:sp>
      <p:sp>
        <p:nvSpPr>
          <p:cNvPr id="4" name="Subheadline"/>
          <p:cNvSpPr txBox="1"/>
          <p:nvPr/>
        </p:nvSpPr>
        <p:spPr>
          <a:xfrm>
            <a:off x="812800" y="1714500"/>
            <a:ext cx="1056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Methodology and AI-assisted tooling for every phase of a ConvAI project.</a:t>
            </a:r>
            <a:endParaRPr lang="en-US" sz="1400" dirty="0"/>
          </a:p>
        </p:txBody>
      </p:sp>
      <p:sp>
        <p:nvSpPr>
          <p:cNvPr id="5" name="Card 1"/>
          <p:cNvSpPr/>
          <p:nvPr/>
        </p:nvSpPr>
        <p:spPr>
          <a:xfrm>
            <a:off x="812800" y="2184400"/>
            <a:ext cx="3183467" cy="3746500"/>
          </a:xfrm>
          <a:prstGeom prst="roundRect">
            <a:avLst>
              <a:gd name="adj" fmla="val 2394"/>
            </a:avLst>
          </a:prstGeom>
          <a:solidFill>
            <a:schemeClr val="bg1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6" name="Phase 1 label"/>
          <p:cNvSpPr txBox="1"/>
          <p:nvPr/>
        </p:nvSpPr>
        <p:spPr>
          <a:xfrm>
            <a:off x="1022350" y="239395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SCOPE</a:t>
            </a:r>
            <a:endParaRPr lang="en-US" sz="1200" dirty="0"/>
          </a:p>
        </p:txBody>
      </p:sp>
      <p:sp>
        <p:nvSpPr>
          <p:cNvPr id="7" name="Phase 1 view"/>
          <p:cNvSpPr/>
          <p:nvPr/>
        </p:nvSpPr>
        <p:spPr>
          <a:xfrm>
            <a:off x="2171700" y="2393950"/>
            <a:ext cx="1022350" cy="254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</a:t>
            </a:r>
            <a:endParaRPr lang="en-US" sz="1200" dirty="0"/>
          </a:p>
        </p:txBody>
      </p:sp>
      <p:pic>
        <p:nvPicPr>
          <p:cNvPr id="8" name="Phase 1 icon" descr="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600" y="2393950"/>
            <a:ext cx="254000" cy="254000"/>
          </a:xfrm>
          <a:prstGeom prst="rect">
            <a:avLst/>
          </a:prstGeom>
        </p:spPr>
      </p:pic>
      <p:sp>
        <p:nvSpPr>
          <p:cNvPr id="9" name="Phase 1 input"/>
          <p:cNvSpPr txBox="1"/>
          <p:nvPr/>
        </p:nvSpPr>
        <p:spPr>
          <a:xfrm>
            <a:off x="1022350" y="274955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Client brief</a:t>
            </a:r>
            <a:endParaRPr lang="en-US" sz="1200" dirty="0"/>
          </a:p>
        </p:txBody>
      </p:sp>
      <p:sp>
        <p:nvSpPr>
          <p:cNvPr id="10" name="Phase 1 divider"/>
          <p:cNvSpPr/>
          <p:nvPr/>
        </p:nvSpPr>
        <p:spPr>
          <a:xfrm>
            <a:off x="1022350" y="3079750"/>
            <a:ext cx="276225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Phase 1 question"/>
          <p:cNvSpPr txBox="1"/>
          <p:nvPr/>
        </p:nvSpPr>
        <p:spPr>
          <a:xfrm>
            <a:off x="1022350" y="3175000"/>
            <a:ext cx="2762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Which conversations pay off?</a:t>
            </a:r>
            <a:endParaRPr lang="en-US" sz="1300" dirty="0"/>
          </a:p>
        </p:txBody>
      </p:sp>
      <p:pic>
        <p:nvPicPr>
          <p:cNvPr id="12" name="Phase 1 visual" descr="Pareto chart of customer intents by volume; the top four are highlighted as automation candid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" y="3479800"/>
            <a:ext cx="2762250" cy="558800"/>
          </a:xfrm>
          <a:prstGeom prst="rect">
            <a:avLst/>
          </a:prstGeom>
        </p:spPr>
      </p:pic>
      <p:sp>
        <p:nvSpPr>
          <p:cNvPr id="13" name="Phase 1 points"/>
          <p:cNvSpPr txBox="1"/>
          <p:nvPr/>
        </p:nvSpPr>
        <p:spPr>
          <a:xfrm>
            <a:off x="1022350" y="4140200"/>
            <a:ext cx="27622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Intent discovery &amp; feasibility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Resolution-based ROI model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7-pillar scoping framework</a:t>
            </a:r>
            <a:endParaRPr lang="en-US" sz="1200" dirty="0"/>
          </a:p>
        </p:txBody>
      </p:sp>
      <p:sp>
        <p:nvSpPr>
          <p:cNvPr id="14" name="Phase 1 output box"/>
          <p:cNvSpPr/>
          <p:nvPr/>
        </p:nvSpPr>
        <p:spPr>
          <a:xfrm>
            <a:off x="1022350" y="5080000"/>
            <a:ext cx="2762250" cy="647700"/>
          </a:xfrm>
          <a:prstGeom prst="roundRect">
            <a:avLst>
              <a:gd name="adj" fmla="val 5882"/>
            </a:avLst>
          </a:prstGeom>
          <a:solidFill>
            <a:schemeClr val="accent6"/>
          </a:solidFill>
          <a:ln/>
        </p:spPr>
      </p:sp>
      <p:sp>
        <p:nvSpPr>
          <p:cNvPr id="15" name="Phase 1 output label"/>
          <p:cNvSpPr txBox="1"/>
          <p:nvPr/>
        </p:nvSpPr>
        <p:spPr>
          <a:xfrm>
            <a:off x="1149350" y="5080000"/>
            <a:ext cx="355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</a:t>
            </a:r>
            <a:endParaRPr lang="en-US" sz="1200" dirty="0"/>
          </a:p>
        </p:txBody>
      </p:sp>
      <p:sp>
        <p:nvSpPr>
          <p:cNvPr id="16" name="Phase 1 output"/>
          <p:cNvSpPr txBox="1"/>
          <p:nvPr/>
        </p:nvSpPr>
        <p:spPr>
          <a:xfrm>
            <a:off x="1606550" y="5080000"/>
            <a:ext cx="20510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Scope &amp; Feasibility Report</a:t>
            </a:r>
            <a:endParaRPr lang="en-US" sz="1300" dirty="0"/>
          </a:p>
        </p:txBody>
      </p:sp>
      <p:pic>
        <p:nvPicPr>
          <p:cNvPr id="17" name="Arrow 1" descr="Arrow to next ph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267" y="3930650"/>
            <a:ext cx="254000" cy="254000"/>
          </a:xfrm>
          <a:prstGeom prst="rect">
            <a:avLst/>
          </a:prstGeom>
        </p:spPr>
      </p:pic>
      <p:sp>
        <p:nvSpPr>
          <p:cNvPr id="18" name="Card 2"/>
          <p:cNvSpPr/>
          <p:nvPr/>
        </p:nvSpPr>
        <p:spPr>
          <a:xfrm>
            <a:off x="4504267" y="2184400"/>
            <a:ext cx="3183467" cy="3746500"/>
          </a:xfrm>
          <a:prstGeom prst="roundRect">
            <a:avLst>
              <a:gd name="adj" fmla="val 2394"/>
            </a:avLst>
          </a:prstGeom>
          <a:solidFill>
            <a:schemeClr val="bg1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19" name="Phase 2 label"/>
          <p:cNvSpPr txBox="1"/>
          <p:nvPr/>
        </p:nvSpPr>
        <p:spPr>
          <a:xfrm>
            <a:off x="4713817" y="239395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DESIGN</a:t>
            </a:r>
            <a:endParaRPr lang="en-US" sz="1200" dirty="0"/>
          </a:p>
        </p:txBody>
      </p:sp>
      <p:sp>
        <p:nvSpPr>
          <p:cNvPr id="20" name="Phase 2 view"/>
          <p:cNvSpPr/>
          <p:nvPr/>
        </p:nvSpPr>
        <p:spPr>
          <a:xfrm>
            <a:off x="5971117" y="2393950"/>
            <a:ext cx="1022350" cy="254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</a:t>
            </a:r>
            <a:endParaRPr lang="en-US" sz="1200" dirty="0"/>
          </a:p>
        </p:txBody>
      </p:sp>
      <p:pic>
        <p:nvPicPr>
          <p:cNvPr id="21" name="Phase 2 icon" descr="workflow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067" y="2393950"/>
            <a:ext cx="254000" cy="254000"/>
          </a:xfrm>
          <a:prstGeom prst="rect">
            <a:avLst/>
          </a:prstGeom>
        </p:spPr>
      </p:pic>
      <p:sp>
        <p:nvSpPr>
          <p:cNvPr id="22" name="Phase 2 input"/>
          <p:cNvSpPr txBox="1"/>
          <p:nvPr/>
        </p:nvSpPr>
        <p:spPr>
          <a:xfrm>
            <a:off x="4713817" y="274955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Scope &amp; Feasibility Report</a:t>
            </a:r>
            <a:endParaRPr lang="en-US" sz="1200" dirty="0"/>
          </a:p>
        </p:txBody>
      </p:sp>
      <p:sp>
        <p:nvSpPr>
          <p:cNvPr id="23" name="Phase 2 divider"/>
          <p:cNvSpPr/>
          <p:nvPr/>
        </p:nvSpPr>
        <p:spPr>
          <a:xfrm>
            <a:off x="4713817" y="3079750"/>
            <a:ext cx="276225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4" name="Phase 2 question"/>
          <p:cNvSpPr txBox="1"/>
          <p:nvPr/>
        </p:nvSpPr>
        <p:spPr>
          <a:xfrm>
            <a:off x="4713817" y="3175000"/>
            <a:ext cx="2762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does the customer hear?</a:t>
            </a:r>
            <a:endParaRPr lang="en-US" sz="1300" dirty="0"/>
          </a:p>
        </p:txBody>
      </p:sp>
      <p:pic>
        <p:nvPicPr>
          <p:cNvPr id="25" name="Phase 2 visual" descr="Conversation flowchart: start, a bot turn, a decision, two branches and a shared end; the happy path is highlight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817" y="3479800"/>
            <a:ext cx="2762250" cy="558800"/>
          </a:xfrm>
          <a:prstGeom prst="rect">
            <a:avLst/>
          </a:prstGeom>
        </p:spPr>
      </p:pic>
      <p:sp>
        <p:nvSpPr>
          <p:cNvPr id="26" name="Phase 2 points"/>
          <p:cNvSpPr txBox="1"/>
          <p:nvPr/>
        </p:nvSpPr>
        <p:spPr>
          <a:xfrm>
            <a:off x="4713817" y="4140200"/>
            <a:ext cx="27622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Verbatim dialogue scripts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Visual conversation flowchart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Variable &amp; entity dictionary</a:t>
            </a:r>
            <a:endParaRPr lang="en-US" sz="1200" dirty="0"/>
          </a:p>
        </p:txBody>
      </p:sp>
      <p:sp>
        <p:nvSpPr>
          <p:cNvPr id="27" name="Phase 2 output box"/>
          <p:cNvSpPr/>
          <p:nvPr/>
        </p:nvSpPr>
        <p:spPr>
          <a:xfrm>
            <a:off x="4713817" y="5080000"/>
            <a:ext cx="2762250" cy="647700"/>
          </a:xfrm>
          <a:prstGeom prst="roundRect">
            <a:avLst>
              <a:gd name="adj" fmla="val 5882"/>
            </a:avLst>
          </a:prstGeom>
          <a:solidFill>
            <a:schemeClr val="accent6"/>
          </a:solidFill>
          <a:ln/>
        </p:spPr>
      </p:sp>
      <p:sp>
        <p:nvSpPr>
          <p:cNvPr id="28" name="Phase 2 output label"/>
          <p:cNvSpPr txBox="1"/>
          <p:nvPr/>
        </p:nvSpPr>
        <p:spPr>
          <a:xfrm>
            <a:off x="4840817" y="5080000"/>
            <a:ext cx="355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</a:t>
            </a:r>
            <a:endParaRPr lang="en-US" sz="1200" dirty="0"/>
          </a:p>
        </p:txBody>
      </p:sp>
      <p:sp>
        <p:nvSpPr>
          <p:cNvPr id="29" name="Phase 2 output"/>
          <p:cNvSpPr txBox="1"/>
          <p:nvPr/>
        </p:nvSpPr>
        <p:spPr>
          <a:xfrm>
            <a:off x="5298017" y="5080000"/>
            <a:ext cx="20510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Conversation Design Package</a:t>
            </a:r>
            <a:endParaRPr lang="en-US" sz="1300" dirty="0"/>
          </a:p>
        </p:txBody>
      </p:sp>
      <p:pic>
        <p:nvPicPr>
          <p:cNvPr id="30" name="Arrow 2" descr="Arrow to next ph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4733" y="3930650"/>
            <a:ext cx="254000" cy="254000"/>
          </a:xfrm>
          <a:prstGeom prst="rect">
            <a:avLst/>
          </a:prstGeom>
        </p:spPr>
      </p:pic>
      <p:sp>
        <p:nvSpPr>
          <p:cNvPr id="31" name="Card 3"/>
          <p:cNvSpPr/>
          <p:nvPr/>
        </p:nvSpPr>
        <p:spPr>
          <a:xfrm>
            <a:off x="8195733" y="2184400"/>
            <a:ext cx="3183467" cy="3746500"/>
          </a:xfrm>
          <a:prstGeom prst="roundRect">
            <a:avLst>
              <a:gd name="adj" fmla="val 2394"/>
            </a:avLst>
          </a:prstGeom>
          <a:solidFill>
            <a:schemeClr val="bg1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32" name="Phase 3 label"/>
          <p:cNvSpPr txBox="1"/>
          <p:nvPr/>
        </p:nvSpPr>
        <p:spPr>
          <a:xfrm>
            <a:off x="8405283" y="239395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BUILD</a:t>
            </a:r>
            <a:endParaRPr lang="en-US" sz="1200" dirty="0"/>
          </a:p>
        </p:txBody>
      </p:sp>
      <p:sp>
        <p:nvSpPr>
          <p:cNvPr id="33" name="Phase 3 view"/>
          <p:cNvSpPr/>
          <p:nvPr/>
        </p:nvSpPr>
        <p:spPr>
          <a:xfrm>
            <a:off x="9548283" y="2393950"/>
            <a:ext cx="825500" cy="254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1200" dirty="0"/>
          </a:p>
        </p:txBody>
      </p:sp>
      <p:pic>
        <p:nvPicPr>
          <p:cNvPr id="34" name="Phase 3 icon" descr="bo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3533" y="2393950"/>
            <a:ext cx="254000" cy="254000"/>
          </a:xfrm>
          <a:prstGeom prst="rect">
            <a:avLst/>
          </a:prstGeom>
        </p:spPr>
      </p:pic>
      <p:sp>
        <p:nvSpPr>
          <p:cNvPr id="35" name="Phase 3 input"/>
          <p:cNvSpPr txBox="1"/>
          <p:nvPr/>
        </p:nvSpPr>
        <p:spPr>
          <a:xfrm>
            <a:off x="8405283" y="274955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Conversation Design Package</a:t>
            </a:r>
            <a:endParaRPr lang="en-US" sz="1200" dirty="0"/>
          </a:p>
        </p:txBody>
      </p:sp>
      <p:sp>
        <p:nvSpPr>
          <p:cNvPr id="36" name="Phase 3 divider"/>
          <p:cNvSpPr/>
          <p:nvPr/>
        </p:nvSpPr>
        <p:spPr>
          <a:xfrm>
            <a:off x="8405283" y="3079750"/>
            <a:ext cx="276225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37" name="Phase 3 question"/>
          <p:cNvSpPr txBox="1"/>
          <p:nvPr/>
        </p:nvSpPr>
        <p:spPr>
          <a:xfrm>
            <a:off x="8405283" y="3175000"/>
            <a:ext cx="27622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must the system do?</a:t>
            </a:r>
            <a:endParaRPr lang="en-US" sz="1300" dirty="0"/>
          </a:p>
        </p:txBody>
      </p:sp>
      <p:pic>
        <p:nvPicPr>
          <p:cNvPr id="38" name="Phase 3 visual" descr="Multi-agent pipeline: four agents in sequence with a quality gate between each handoff, ending in a verified deployme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5283" y="3479800"/>
            <a:ext cx="2762250" cy="558800"/>
          </a:xfrm>
          <a:prstGeom prst="rect">
            <a:avLst/>
          </a:prstGeom>
        </p:spPr>
      </p:pic>
      <p:sp>
        <p:nvSpPr>
          <p:cNvPr id="39" name="Phase 3 points"/>
          <p:cNvSpPr txBox="1"/>
          <p:nvPr/>
        </p:nvSpPr>
        <p:spPr>
          <a:xfrm>
            <a:off x="8405283" y="4140200"/>
            <a:ext cx="27622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Spec-first multi-agent pipeline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Built on Cognigy.AI</a:t>
            </a:r>
            <a:endParaRPr lang="en-US" sz="1200" dirty="0"/>
          </a:p>
          <a:p>
            <a:pPr marL="165100" indent="-165100"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chemeClr val="accent4"/>
                </a:solidFill>
              </a:rPr>
              <a:t>Quality gates at every handoff</a:t>
            </a:r>
            <a:endParaRPr lang="en-US" sz="1200" dirty="0"/>
          </a:p>
        </p:txBody>
      </p:sp>
      <p:sp>
        <p:nvSpPr>
          <p:cNvPr id="40" name="Phase 3 output box"/>
          <p:cNvSpPr/>
          <p:nvPr/>
        </p:nvSpPr>
        <p:spPr>
          <a:xfrm>
            <a:off x="8405283" y="5080000"/>
            <a:ext cx="2762250" cy="64770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/>
        </p:spPr>
      </p:sp>
      <p:sp>
        <p:nvSpPr>
          <p:cNvPr id="41" name="Phase 3 output label"/>
          <p:cNvSpPr txBox="1"/>
          <p:nvPr/>
        </p:nvSpPr>
        <p:spPr>
          <a:xfrm>
            <a:off x="8532283" y="5080000"/>
            <a:ext cx="355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</a:t>
            </a:r>
            <a:endParaRPr lang="en-US" sz="1200" dirty="0"/>
          </a:p>
        </p:txBody>
      </p:sp>
      <p:sp>
        <p:nvSpPr>
          <p:cNvPr id="42" name="Phase 3 output"/>
          <p:cNvSpPr txBox="1"/>
          <p:nvPr/>
        </p:nvSpPr>
        <p:spPr>
          <a:xfrm>
            <a:off x="8989483" y="5080000"/>
            <a:ext cx="20510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Deployed flow + test report + handover docs</a:t>
            </a:r>
            <a:endParaRPr lang="en-US" sz="1300" dirty="0"/>
          </a:p>
        </p:txBody>
      </p:sp>
      <p:sp>
        <p:nvSpPr>
          <p:cNvPr id="43" name="Footer line"/>
          <p:cNvSpPr txBox="1"/>
          <p:nvPr/>
        </p:nvSpPr>
        <p:spPr>
          <a:xfrm>
            <a:off x="812800" y="61976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Not consulting that improvises —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structured system with AI-assisted delivery at every step.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nafacta">
  <a:themeElements>
    <a:clrScheme name="Bonafacta">
      <a:dk1>
        <a:srgbClr val="0B0B0B"/>
      </a:dk1>
      <a:lt1>
        <a:srgbClr val="FFFFFF"/>
      </a:lt1>
      <a:dk2>
        <a:srgbClr val="212121"/>
      </a:dk2>
      <a:lt2>
        <a:srgbClr val="F4F5F7"/>
      </a:lt2>
      <a:accent1>
        <a:srgbClr val="0F75BD"/>
      </a:accent1>
      <a:accent2>
        <a:srgbClr val="0A5184"/>
      </a:accent2>
      <a:accent3>
        <a:srgbClr val="28A9E0"/>
      </a:accent3>
      <a:accent4>
        <a:srgbClr val="505B6C"/>
      </a:accent4>
      <a:accent5>
        <a:srgbClr val="B9B9B9"/>
      </a:accent5>
      <a:accent6>
        <a:srgbClr val="EAF6FC"/>
      </a:accent6>
      <a:hlink>
        <a:srgbClr val="0F75BD"/>
      </a:hlink>
      <a:folHlink>
        <a:srgbClr val="0A5184"/>
      </a:folHlink>
    </a:clrScheme>
    <a:fontScheme name="Bonafacta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Conversational AI — From Brief to Deployed</dc:title>
  <dc:subject>PptxGenJS Presentation</dc:subject>
  <dc:creator>Denis Šuško</dc:creator>
  <cp:lastModifiedBy>Denis Šuško</cp:lastModifiedBy>
  <cp:revision>1</cp:revision>
  <dcterms:created xsi:type="dcterms:W3CDTF">2026-10-13T22:01:53Z</dcterms:created>
  <dcterms:modified xsi:type="dcterms:W3CDTF">2026-10-13T22:01:53Z</dcterms:modified>
</cp:coreProperties>
</file>